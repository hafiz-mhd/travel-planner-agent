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90" r:id="rId3"/>
    <p:sldId id="291" r:id="rId4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10" r:id="rId18"/>
    <p:sldId id="304" r:id="rId19"/>
    <p:sldId id="305" r:id="rId20"/>
    <p:sldId id="306" r:id="rId21"/>
    <p:sldId id="307" r:id="rId22"/>
    <p:sldId id="308" r:id="rId23"/>
    <p:sldId id="30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2977178" y="5955665"/>
            <a:ext cx="3932237" cy="1600200"/>
          </a:xfrm>
        </p:spPr>
        <p:txBody>
          <a:bodyPr/>
          <a:p>
            <a:endParaRPr lang="en-US"/>
          </a:p>
        </p:txBody>
      </p:sp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12630468" y="4850130"/>
            <a:ext cx="3932237" cy="3811588"/>
          </a:xfrm>
        </p:spPr>
        <p:txBody>
          <a:bodyPr/>
          <a:p>
            <a:endParaRPr lang="en-US"/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AR Hafiz Muhammed</a:t>
                      </a:r>
                      <a:endParaRPr lang="en-US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arhafizmuhammed@gmail.com</a:t>
                      </a:r>
                      <a:endParaRPr lang="en-US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9747012370</a:t>
                      </a:r>
                      <a:endParaRPr lang="en-US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[ </a:t>
            </a:r>
            <a:r>
              <a:rPr lang="en-US" altLang="en-US" sz="2400" b="1">
                <a:highlight>
                  <a:srgbClr val="FFFF00"/>
                </a:highlight>
              </a:rPr>
              <a:t>Travel &amp; Tourism</a:t>
            </a:r>
            <a:r>
              <a:rPr lang="en-US" sz="2400" b="1">
                <a:highlight>
                  <a:srgbClr val="FFFF00"/>
                </a:highlight>
              </a:rPr>
              <a:t> 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US" altLang="en-US" sz="2400" b="1">
                <a:highlight>
                  <a:srgbClr val="FFFF00"/>
                </a:highlight>
              </a:rPr>
              <a:t>TripMate – AI-Powered Travel Planner Agent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13" name="Picture Placeholder 12" descr="my photo"/>
          <p:cNvPicPr>
            <a:picLocks noChangeAspect="1"/>
          </p:cNvPicPr>
          <p:nvPr>
            <p:ph type="pic" idx="2"/>
          </p:nvPr>
        </p:nvPicPr>
        <p:blipFill>
          <a:blip r:embed="rId1"/>
          <a:srcRect t="19511" b="19511"/>
          <a:stretch>
            <a:fillRect/>
          </a:stretch>
        </p:blipFill>
        <p:spPr>
          <a:xfrm>
            <a:off x="3943350" y="3649980"/>
            <a:ext cx="1233805" cy="974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945" y="1378585"/>
            <a:ext cx="10607040" cy="5090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Problem Statement - Travel Planner Agent</a:t>
            </a:r>
            <a:endParaRPr lang="en-US" altLang="en-US" sz="2400" b="1" dirty="0"/>
          </a:p>
          <a:p>
            <a:endParaRPr lang="en-US" altLang="en-US" dirty="0"/>
          </a:p>
          <a:p>
            <a:r>
              <a:rPr lang="en-US" altLang="en-US" sz="2000" dirty="0"/>
              <a:t>The Challenge - A Travel Planner Agent is an AI-powered assistant that helps users plan trips efficiently </a:t>
            </a:r>
            <a:endParaRPr lang="en-US" altLang="en-US" sz="2000" dirty="0"/>
          </a:p>
          <a:p>
            <a:r>
              <a:rPr lang="en-US" altLang="en-US" sz="2000" dirty="0"/>
              <a:t>and intelligently.</a:t>
            </a:r>
            <a:endParaRPr lang="en-US" altLang="en-US" sz="2000" dirty="0"/>
          </a:p>
          <a:p>
            <a:r>
              <a:rPr lang="en-US" altLang="en-US" sz="2000" dirty="0"/>
              <a:t>It uses real-time data to suggest destinations, build itineraries, and recommend transport and </a:t>
            </a:r>
            <a:endParaRPr lang="en-US" altLang="en-US" sz="2000" dirty="0"/>
          </a:p>
          <a:p>
            <a:r>
              <a:rPr lang="en-US" altLang="en-US" sz="2000" dirty="0"/>
              <a:t>accommodation options.</a:t>
            </a:r>
            <a:endParaRPr lang="en-US" altLang="en-US" sz="2000" dirty="0"/>
          </a:p>
          <a:p>
            <a:r>
              <a:rPr lang="en-US" altLang="en-US" sz="2000" dirty="0"/>
              <a:t>By understanding user preferences, budgets, and constraints, it tailors personalized travel plans.</a:t>
            </a:r>
            <a:endParaRPr lang="en-US" altLang="en-US" sz="2000" dirty="0"/>
          </a:p>
          <a:p>
            <a:r>
              <a:rPr lang="en-US" altLang="en-US" sz="2000" dirty="0"/>
              <a:t>Integrated with maps, weather updates, and local guides, it ensures a smooth travel experience.</a:t>
            </a:r>
            <a:endParaRPr lang="en-US" altLang="en-US" sz="2000" dirty="0"/>
          </a:p>
          <a:p>
            <a:r>
              <a:rPr lang="en-US" altLang="en-US" sz="2000" dirty="0"/>
              <a:t>The agent can also manage bookings, alert users to changes, and optimize schedules on the go.</a:t>
            </a:r>
            <a:endParaRPr lang="en-US" altLang="en-US" sz="2000" dirty="0"/>
          </a:p>
          <a:p>
            <a:r>
              <a:rPr lang="en-US" altLang="en-US" sz="2000" dirty="0"/>
              <a:t>This smart assistant transforms complex travel planning into a seamless, enjoyable process.</a:t>
            </a:r>
            <a:endParaRPr lang="en-US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734060"/>
            <a:ext cx="1060704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altLang="en-US" b="1" dirty="0"/>
              <a:t>Proposed Solution: AI-Powered Travel Planner Agent (TripMate)</a:t>
            </a:r>
            <a:endParaRPr lang="en-US" altLang="en-US" b="1" dirty="0"/>
          </a:p>
          <a:p>
            <a:r>
              <a:rPr lang="en-US" altLang="en-US" dirty="0"/>
              <a:t>The proposed solution is a multi-agent AI-powered Travel Planner built using IBM Bob, IBM watsonx.ai, and Granite Models to provide personalized, real-time trip planning. The system addresses challenges in destination discovery, itinerary building, and budget management through an intelligent, modular architecture.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At its core, the solution uses a Retrieval-Augmented Generation (RAG) pipeline to fetch accurate travel information from a curated destination knowledge base. This data is embedded and stored in a vector database, enabling the system to retrieve and ground itinerary suggestions in real destination facts rather than hallucinated content, using Granite models for reasoning and generation.</a:t>
            </a:r>
            <a:endParaRPr lang="en-US" altLang="en-US" dirty="0"/>
          </a:p>
          <a:p>
            <a:endParaRPr lang="en-US" altLang="en-US" b="1" dirty="0"/>
          </a:p>
          <a:p>
            <a:r>
              <a:rPr lang="en-US" altLang="en-US" b="1" dirty="0"/>
              <a:t>The system consists of four key agents:</a:t>
            </a:r>
            <a:endParaRPr lang="en-US" altLang="en-US" b="1" dirty="0"/>
          </a:p>
          <a:p>
            <a:endParaRPr lang="en-US" altLang="en-US" b="1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dirty="0"/>
              <a:t>Destination Knowledge Agent retrieves and summarizes destination information, attractions, and local tips using RAG.</a:t>
            </a:r>
            <a:endParaRPr lang="en-US" altLang="en-US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dirty="0"/>
              <a:t>Itinerary Planning Agent generates a personalized day-by-day itinerary based on user inputs such as dates, budget, group size, and interests.</a:t>
            </a:r>
            <a:endParaRPr lang="en-US" altLang="en-US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dirty="0"/>
              <a:t>Budget Advisory Agent estimates costs per activity/day and flags when the plan exceeds the stated budget.</a:t>
            </a:r>
            <a:endParaRPr lang="en-US" altLang="en-US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dirty="0"/>
              <a:t>Refinement &amp; Feedback Agent handles follow-up requests, regenerating only the affected portion of the itinerary rather than the whole plan.</a:t>
            </a:r>
            <a:endParaRPr lang="en-US" altLang="en-US" dirty="0"/>
          </a:p>
          <a:p>
            <a:endParaRPr lang="en-US" altLang="en-US" b="1" dirty="0"/>
          </a:p>
          <a:p>
            <a:r>
              <a:rPr lang="en-US" altLang="en-US" b="1" dirty="0"/>
              <a:t>The solution includes a user-friendly dashboard (built with React) that displays the day-by-day itinerary, cost breakdown, and weather outlook for the trip dates, and lets users save and revisit past trips.</a:t>
            </a:r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/>
              <a:t>IBM Bob is used to orchestrate agent workflows, while watsonx.ai ensures scalable model deployment, embeddings, and AI governance. Granite models power reasoning, summarization, and personalization.</a:t>
            </a:r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/>
              <a:t>Overall, this solution delivers an end-to-end intelligent travel assistant that turns fragmented trip research into a single, personalized, trustworthy planning experience.</a:t>
            </a:r>
            <a:endParaRPr lang="en-US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51612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6339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</a:t>
            </a:r>
            <a:r>
              <a:rPr lang="en-US" altLang="en-US" sz="1800" dirty="0"/>
              <a:t>For designing and orchestrating multi-agent workflows visually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(</a:t>
            </a:r>
            <a:r>
              <a:rPr lang="en-US" sz="1800" dirty="0"/>
              <a:t>for </a:t>
            </a:r>
            <a:r>
              <a:rPr lang="en-US" sz="1800" dirty="0" err="1"/>
              <a:t>eg</a:t>
            </a:r>
            <a:r>
              <a:rPr lang="en-US" sz="1800" dirty="0"/>
              <a:t> – ibm-granite-3-2-8b) – For natural language understanding, reasoning, and personalization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</a:t>
            </a:r>
            <a:r>
              <a:rPr lang="en-US" altLang="en-US" sz="1800" dirty="0"/>
              <a:t>Provides the infrastructure to build, deploy, and scale the Travel Planner Agent efficiently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altLang="en-US" sz="1800" dirty="0"/>
              <a:t>Fetches real destination data first, then generates itineraries, making recommendations more trustworthy and grounded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</a:t>
            </a:r>
            <a:r>
              <a:rPr lang="en-US" altLang="en-US" sz="1800" dirty="0"/>
              <a:t>overnance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</a:t>
            </a:r>
            <a:r>
              <a:rPr lang="en-US" altLang="en-US" sz="1800" dirty="0"/>
              <a:t>For RAG-based destination/attraction data retrieval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React (frontend) + MySQL</a:t>
            </a:r>
            <a:r>
              <a:rPr lang="en-US" altLang="en-US" sz="1800" dirty="0"/>
              <a:t> – For the itinerary dashboard and trip history storage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Weather API (OpenWeatherMap) </a:t>
            </a:r>
            <a:r>
              <a:rPr lang="en-US" altLang="en-US" sz="1800" dirty="0"/>
              <a:t>– For weather-aware activity suggestions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Required Files created using IBM bob -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" name="Picture Placeholder 8" descr="Screenshot 2026-09-11 151001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37210" y="1111250"/>
            <a:ext cx="11182350" cy="5366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IBM Bob Screenshots: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10" name="Picture Placeholder 9" descr="Screenshot 2026-09-11 151343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38480" y="882015"/>
            <a:ext cx="10889615" cy="5690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Screenshot 2026-09-11 151242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1310640" y="669290"/>
            <a:ext cx="9067165" cy="5687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 for IBM bob:</a:t>
            </a:r>
            <a:endParaRPr lang="en-US" sz="2400"/>
          </a:p>
        </p:txBody>
      </p:sp>
      <p:pic>
        <p:nvPicPr>
          <p:cNvPr id="8" name="Picture 7" descr="60fc9546-d086-4dcc-96a3-25bfd1c6368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0" y="1321435"/>
            <a:ext cx="10662285" cy="4935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/>
              <a:t>Role of Agentic AI in TripMate</a:t>
            </a:r>
            <a:endParaRPr lang="en-US" altLang="en-US" sz="1600" b="1"/>
          </a:p>
          <a:p>
            <a:endParaRPr lang="en-US" altLang="en-US"/>
          </a:p>
          <a:p>
            <a:r>
              <a:rPr lang="en-US" altLang="en-US"/>
              <a:t>Agentic AI enables the Travel Planner to function as an intelligent, autonomous trip-planning system rather than a simple chatbot. Using IBM watsonx.ai and IBM Granite models, it coordinates multiple specialized agents to deliver a complete, personalized itinerary.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Each agent performs a specific role — retrieving destination data, building the itinerary, tracking budget, and handling refinements — while working collaboratively. This multi-agent approach ensures efficient task execution and coherent, accurate trip plans.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Agentic AI also brings context awareness, understanding user details like travel dates, budget, and interests to generate tailored recommendations. It supports real-time adaptation, updating the itinerary as the user requests changes mid-conversation, without regenerating the entire plan.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Additionally, agents communicate with each other — for example, the Budget Advisory Agent flags a plan back to the Itinerary Planning Agent if costs exceed the stated budget — enabling better decision-making.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Overall, Agentic AI makes the system proactive, personalized, and goal-driven, acting like a smart digital travel agent that helps users go from a vague idea to a ready-to-follow trip plan.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Token Usage 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/>
              <a:t>11,761 token are used</a:t>
            </a:r>
            <a:endParaRPr lang="en-US"/>
          </a:p>
        </p:txBody>
      </p:sp>
      <p:pic>
        <p:nvPicPr>
          <p:cNvPr id="12" name="Picture 11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2453640"/>
            <a:ext cx="3908425" cy="2857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Before Prompt</a:t>
            </a:r>
            <a:endParaRPr lang="en-US" sz="2000" u="sng"/>
          </a:p>
        </p:txBody>
      </p:sp>
      <p:sp>
        <p:nvSpPr>
          <p:cNvPr id="15" name="TextBox 14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After the Prompt</a:t>
            </a:r>
            <a:endParaRPr lang="en-US" sz="2000" u="sng"/>
          </a:p>
        </p:txBody>
      </p:sp>
      <p:pic>
        <p:nvPicPr>
          <p:cNvPr id="2" name="Picture 1" descr="Screenshot 2026-09-11 2350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90" y="2326640"/>
            <a:ext cx="6287770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12" name="Picture 11" descr="Screenshot 2026-09-11 195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817245"/>
            <a:ext cx="10881360" cy="5344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 descr="Screenshot 2026-09-11 2324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993775"/>
            <a:ext cx="10640060" cy="54997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 descr="Screenshot 2026-09-11 1957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65" y="1071245"/>
            <a:ext cx="10541635" cy="52095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9-11 2324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65" y="732155"/>
            <a:ext cx="11392535" cy="53943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033653"/>
            <a:ext cx="11301984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/>
              <a:t>The proposed Travel Planner Agent stands out by combining Agentic AI, RAG, and personalization into a single intelligent system.</a:t>
            </a:r>
            <a:endParaRPr lang="en-US" altLang="en-US" sz="1800"/>
          </a:p>
          <a:p>
            <a:endParaRPr lang="en-IN" sz="1800"/>
          </a:p>
          <a:p>
            <a:r>
              <a:rPr lang="en-IN" sz="1800" b="1"/>
              <a:t>Multi-Agent Intelligence</a:t>
            </a:r>
            <a:r>
              <a:rPr lang="en-IN" sz="1800"/>
              <a:t> – </a:t>
            </a:r>
            <a:r>
              <a:rPr lang="en-US" altLang="en-US" sz="1800"/>
              <a:t>Specialized agents collaborate to deliver a coherent, budget-aware itinerary instead of a generic list of suggestions.</a:t>
            </a:r>
            <a:r>
              <a:rPr lang="en-IN" sz="1800"/>
              <a:t> </a:t>
            </a:r>
            <a:endParaRPr lang="en-IN" sz="1800"/>
          </a:p>
          <a:p>
            <a:endParaRPr lang="en-IN" sz="1800"/>
          </a:p>
          <a:p>
            <a:r>
              <a:rPr lang="en-IN" sz="1800" b="1"/>
              <a:t>RAG-Based Accuracy</a:t>
            </a:r>
            <a:r>
              <a:rPr lang="en-IN" sz="1800"/>
              <a:t> – </a:t>
            </a:r>
            <a:r>
              <a:rPr lang="en-US" altLang="en-US" sz="1800"/>
              <a:t>Integrates real-time destination data retrieval with AI generation, reducing hallucinated recommendations.</a:t>
            </a:r>
            <a:r>
              <a:rPr lang="en-IN" sz="1800"/>
              <a:t> </a:t>
            </a:r>
            <a:endParaRPr lang="en-IN" sz="1800"/>
          </a:p>
          <a:p>
            <a:endParaRPr lang="en-IN" sz="1800"/>
          </a:p>
          <a:p>
            <a:r>
              <a:rPr lang="en-IN" sz="1800" b="1"/>
              <a:t>Hyper-Personalization</a:t>
            </a:r>
            <a:r>
              <a:rPr lang="en-IN" sz="1800"/>
              <a:t> –</a:t>
            </a:r>
            <a:r>
              <a:rPr lang="en-US" altLang="en-IN" sz="1800"/>
              <a:t> </a:t>
            </a:r>
            <a:r>
              <a:rPr lang="en-US" altLang="en-US" sz="1800"/>
              <a:t>Tailors itineraries based on budget, group size, interests, and trip duration.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 b="1"/>
              <a:t>Weather-Aware Recommendations</a:t>
            </a:r>
            <a:r>
              <a:rPr lang="en-US" altLang="en-US" sz="1800"/>
              <a:t> – Flags outdoor activities at risk from forecasted weather and suggests alternatives.</a:t>
            </a:r>
            <a:r>
              <a:rPr lang="en-IN" sz="1800"/>
              <a:t>. </a:t>
            </a:r>
            <a:endParaRPr lang="en-IN" sz="1800"/>
          </a:p>
          <a:p>
            <a:endParaRPr lang="en-IN" sz="1800"/>
          </a:p>
          <a:p>
            <a:r>
              <a:rPr lang="en-US" altLang="en-US" sz="1800" b="1"/>
              <a:t>Conversational Refinement Loop</a:t>
            </a:r>
            <a:r>
              <a:rPr lang="en-US" altLang="en-US" sz="1800"/>
              <a:t> – Lets users adjust specific days without regenerating the whole plan.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 b="1"/>
              <a:t>Scalable &amp; Enterprise-Ready </a:t>
            </a:r>
            <a:r>
              <a:rPr lang="en-US" altLang="en-US" sz="1800"/>
              <a:t>– Built on IBM watsonx.ai with IBM Granite models, ensuring reliability and governance.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This makes the solution a smart, adaptive travel companion — not just a static itinerary generator.</a:t>
            </a: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Git Hub Link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 Please create public </a:t>
            </a:r>
            <a:r>
              <a:rPr lang="en-US" sz="1850" b="0" i="0" u="none" strike="noStrike" cap="none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repository (Enable Add README  button while creating repository) with format – </a:t>
            </a:r>
            <a:endParaRPr lang="en-US" sz="185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Please test and Paste the working  </a:t>
            </a:r>
            <a:r>
              <a:rPr lang="en-US" sz="185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URL –</a:t>
            </a:r>
            <a:endParaRPr lang="en-US" sz="185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62000"/>
              </a:lnSpc>
              <a:buClr>
                <a:srgbClr val="2B3541"/>
              </a:buClr>
              <a:buSzPts val="1850"/>
            </a:pPr>
            <a:r>
              <a:rPr lang="en-US" sz="1850" b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sure you have Uploaded following three files into your </a:t>
            </a:r>
            <a:r>
              <a:rPr lang="en-US" sz="1850" b="1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b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repository  </a:t>
            </a:r>
            <a:br>
              <a:rPr lang="en-US" sz="185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5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1) All Agent relevant files of IBM Cloud , 2) yourproblemstatement.pdf file  3) your projectpresntation.pptx file 4)any other files </a:t>
            </a:r>
            <a:endParaRPr lang="en-US" sz="185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Future Scope 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240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altLang="en-US" sz="240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Booking Integration</a:t>
            </a:r>
            <a:r>
              <a:rPr lang="en-US" sz="240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</a:t>
            </a:r>
            <a:r>
              <a:rPr lang="en-US" sz="185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850" b="1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Connect with flight, hotel, and transport booking APIs to move from planning to actual reservation and payment, with real-time price and availability checks.</a:t>
            </a:r>
            <a:endParaRPr lang="en-US" altLang="en-US" sz="185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lang="en-US" altLang="en-US" sz="185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2400" b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r>
              <a:rPr lang="en-US" altLang="en-US" sz="2400" b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Multilingual &amp; Voice Support</a:t>
            </a:r>
            <a:r>
              <a:rPr lang="en-US" sz="240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</a:t>
            </a:r>
            <a:endParaRPr lang="en-US" sz="24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en-US" alt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 voice-enabled interaction and multilingual support so travelers from diverse linguistic backgrounds can plan trips naturally in their preferred language.</a:t>
            </a:r>
            <a:endParaRPr lang="en-US" altLang="en-US" sz="185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/>
              <a:t>Certificates Earned:</a:t>
            </a:r>
            <a:endParaRPr lang="en-US" sz="2400" b="1"/>
          </a:p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2048" y="690061"/>
            <a:ext cx="11453139" cy="46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(Getting Started with Artificial Intelligence)  </a:t>
            </a:r>
            <a:endParaRPr lang="en-US" sz="2400" b="1" dirty="0"/>
          </a:p>
        </p:txBody>
      </p:sp>
      <p:pic>
        <p:nvPicPr>
          <p:cNvPr id="2" name="Picture Placeholder 1" descr="WhatsApp Image 2026-09-11 at 19.15.29"/>
          <p:cNvPicPr>
            <a:picLocks noChangeAspect="1"/>
          </p:cNvPicPr>
          <p:nvPr>
            <p:ph type="pic" idx="2"/>
          </p:nvPr>
        </p:nvPicPr>
        <p:blipFill>
          <a:blip r:embed="rId1"/>
          <a:srcRect l="1160" r="1160"/>
          <a:stretch>
            <a:fillRect/>
          </a:stretch>
        </p:blipFill>
        <p:spPr>
          <a:xfrm>
            <a:off x="1532255" y="1526540"/>
            <a:ext cx="7962265" cy="51047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/>
              <a:t>Add your IBM BOB Certificate</a:t>
            </a:r>
            <a:endParaRPr lang="en-US" sz="2000" b="1"/>
          </a:p>
        </p:txBody>
      </p:sp>
      <p:pic>
        <p:nvPicPr>
          <p:cNvPr id="17" name="Picture 16" descr="WhatsApp Image 2026-09-11 at 19.18.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15465"/>
            <a:ext cx="8343900" cy="4124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7419</Words>
  <Application>WPS Presentation</Application>
  <PresentationFormat>Widescreen</PresentationFormat>
  <Paragraphs>204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Times New Roman</vt:lpstr>
      <vt:lpstr>Wingdings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Hafiz Muhammed</cp:lastModifiedBy>
  <cp:revision>6</cp:revision>
  <dcterms:created xsi:type="dcterms:W3CDTF">2025-07-08T05:06:00Z</dcterms:created>
  <dcterms:modified xsi:type="dcterms:W3CDTF">2026-09-11T18:31:03Z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D9E5AD25DAC64301BF574E7DCD2A2806_13</vt:lpwstr>
  </property>
</Properties>
</file>